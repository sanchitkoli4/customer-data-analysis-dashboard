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-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C"/>
                </a:solidFill>
                <a:latin typeface="Arial"/>
              </a:rPr>
              <a:t>Transactions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6F2-4871-BD20-0AEDC4C1311B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F2-4871-BD20-0AEDC4C131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59482</c:v>
                </c:pt>
                <c:pt idx="1">
                  <c:v>39975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6F2-4871-BD20-0AEDC4C131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C"/>
                </a:solidFill>
                <a:latin typeface="Arial"/>
              </a:rPr>
              <a:t>Revenue by Gender (M TL)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 TL)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D5-4DCC-BBA2-B2389C2A618C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D5-4DCC-BBA2-B2389C2A618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150.21</c:v>
                </c:pt>
                <c:pt idx="1">
                  <c:v>101.3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D5-4DCC-BBA2-B2389C2A61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C"/>
                </a:solidFill>
                <a:latin typeface="Arial"/>
              </a:rPr>
              <a:t>Transactions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DA-45B4-B1A6-D5DE19AEA41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8DA-45B4-B1A6-D5DE19AEA41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8DA-45B4-B1A6-D5DE19AEA41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8DA-45B4-B1A6-D5DE19AEA412}"/>
              </c:ext>
            </c:extLst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8DA-45B4-B1A6-D5DE19AEA4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15359</c:v>
                </c:pt>
                <c:pt idx="1">
                  <c:v>19059</c:v>
                </c:pt>
                <c:pt idx="2">
                  <c:v>19436</c:v>
                </c:pt>
                <c:pt idx="3">
                  <c:v>19016</c:v>
                </c:pt>
                <c:pt idx="4">
                  <c:v>26587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8DA-45B4-B1A6-D5DE19AEA4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C"/>
                </a:solidFill>
                <a:latin typeface="Arial"/>
              </a:rPr>
              <a:t>Revenue by Age Group (M TL)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 TL)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89-4D26-95C6-9D511B6844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189-4D26-95C6-9D511B68444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189-4D26-95C6-9D511B68444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189-4D26-95C6-9D511B68444F}"/>
              </c:ext>
            </c:extLst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189-4D26-95C6-9D511B6844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38.119999999999997</c:v>
                </c:pt>
                <c:pt idx="1">
                  <c:v>47.88</c:v>
                </c:pt>
                <c:pt idx="2">
                  <c:v>50.18</c:v>
                </c:pt>
                <c:pt idx="3">
                  <c:v>48.22</c:v>
                </c:pt>
                <c:pt idx="4">
                  <c:v>67.099999999999994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89-4D26-95C6-9D511B6844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C"/>
                </a:solidFill>
                <a:latin typeface="Arial"/>
              </a:rPr>
              <a:t>Products Sold by Category &amp; Gender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Clothing</c:v>
                </c:pt>
                <c:pt idx="1">
                  <c:v>Cosmetics</c:v>
                </c:pt>
                <c:pt idx="2">
                  <c:v>Food &amp; Bev</c:v>
                </c:pt>
                <c:pt idx="3">
                  <c:v>Toys</c:v>
                </c:pt>
                <c:pt idx="4">
                  <c:v>Shoes</c:v>
                </c:pt>
                <c:pt idx="5">
                  <c:v>Technology</c:v>
                </c:pt>
                <c:pt idx="6">
                  <c:v>Books</c:v>
                </c:pt>
                <c:pt idx="7">
                  <c:v>Souvenir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62039</c:v>
                </c:pt>
                <c:pt idx="1">
                  <c:v>27261</c:v>
                </c:pt>
                <c:pt idx="2">
                  <c:v>26362</c:v>
                </c:pt>
                <c:pt idx="3">
                  <c:v>18362</c:v>
                </c:pt>
                <c:pt idx="4">
                  <c:v>17906</c:v>
                </c:pt>
                <c:pt idx="5">
                  <c:v>9000</c:v>
                </c:pt>
                <c:pt idx="6">
                  <c:v>9000</c:v>
                </c:pt>
                <c:pt idx="7">
                  <c:v>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28-4B30-8CFB-303C4249A0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Clothing</c:v>
                </c:pt>
                <c:pt idx="1">
                  <c:v>Cosmetics</c:v>
                </c:pt>
                <c:pt idx="2">
                  <c:v>Food &amp; Bev</c:v>
                </c:pt>
                <c:pt idx="3">
                  <c:v>Toys</c:v>
                </c:pt>
                <c:pt idx="4">
                  <c:v>Shoes</c:v>
                </c:pt>
                <c:pt idx="5">
                  <c:v>Technology</c:v>
                </c:pt>
                <c:pt idx="6">
                  <c:v>Books</c:v>
                </c:pt>
                <c:pt idx="7">
                  <c:v>Souvenir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41519</c:v>
                </c:pt>
                <c:pt idx="1">
                  <c:v>18204</c:v>
                </c:pt>
                <c:pt idx="2">
                  <c:v>17915</c:v>
                </c:pt>
                <c:pt idx="3">
                  <c:v>12000</c:v>
                </c:pt>
                <c:pt idx="4">
                  <c:v>12000</c:v>
                </c:pt>
                <c:pt idx="5">
                  <c:v>6000</c:v>
                </c:pt>
                <c:pt idx="6">
                  <c:v>6000</c:v>
                </c:pt>
                <c:pt idx="7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28-4B30-8CFB-303C4249A0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A2B5C"/>
                </a:solidFill>
                <a:latin typeface="Arial"/>
              </a:rPr>
              <a:t>Payment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ECC-40C0-A0CA-4DF6BC1B7E5E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CC-40C0-A0CA-4DF6BC1B7E5E}"/>
              </c:ext>
            </c:extLst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CC-40C0-A0CA-4DF6BC1B7E5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CC-40C0-A0CA-4DF6BC1B7E5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CC-40C0-A0CA-4DF6BC1B7E5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CC-40C0-A0CA-4DF6BC1B7E5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44447</c:v>
                </c:pt>
                <c:pt idx="1">
                  <c:v>34931</c:v>
                </c:pt>
                <c:pt idx="2">
                  <c:v>20079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CC-40C0-A0CA-4DF6BC1B7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C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A2B5C"/>
                </a:solidFill>
                <a:latin typeface="Arial"/>
              </a:rPr>
              <a:t>Payment Method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26500</c:v>
                </c:pt>
                <c:pt idx="1">
                  <c:v>21000</c:v>
                </c:pt>
                <c:pt idx="2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90-42C8-980F-724531C88E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17900</c:v>
                </c:pt>
                <c:pt idx="1">
                  <c:v>13900</c:v>
                </c:pt>
                <c:pt idx="2">
                  <c:v>8100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90-42C8-980F-724531C88E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05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Internship Project · Multi-Mall Customer Transactions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</a:rPr>
              <a:t>Prepared by:  </a:t>
            </a:r>
            <a:r>
              <a:rPr lang="en-US" sz="1100" b="1" dirty="0">
                <a:solidFill>
                  <a:srgbClr val="FFFFFF"/>
                </a:solidFill>
              </a:rPr>
              <a:t>Sanchit Sunil Koli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</a:rPr>
              <a:t>Tools Used:  </a:t>
            </a:r>
            <a:r>
              <a:rPr lang="en-US" sz="1100" b="1" dirty="0">
                <a:solidFill>
                  <a:srgbClr val="FFFFFF"/>
                </a:solidFill>
              </a:rPr>
              <a:t>SQL  ·  Power BI  ·  Excel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</a:rPr>
              <a:t>Dataset:  </a:t>
            </a:r>
            <a:r>
              <a:rPr lang="en-US" sz="1100" b="1" dirty="0">
                <a:solidFill>
                  <a:srgbClr val="FFFFFF"/>
                </a:solidFill>
              </a:rPr>
              <a:t>Multi-Mall Transactions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</a:rPr>
              <a:t>Year:  </a:t>
            </a:r>
            <a:r>
              <a:rPr lang="en-US" sz="1100" b="1" dirty="0">
                <a:solidFill>
                  <a:srgbClr val="FFFFFF"/>
                </a:solidFill>
              </a:rPr>
              <a:t>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0" y="914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99,000+ Transactions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251.51M TL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41448" y="10515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41448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99,457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41448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10515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54296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298,712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54296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Sold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67144" y="10515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67144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2,530 TL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67144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account for 59.81% of transactions and ~60% of revenue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1792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top-selling category across all genders and age groups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1792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age group is the most active segment by transactions, products &amp; revenue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1792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the most preferred payment method at 44.69% of all transactions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805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(Credit + Debit Card) together exceed 55% of all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058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49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32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59.81%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74320" y="4187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Share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41448" y="3749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2441448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40.19%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441448" y="4187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Share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08576" y="3749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608576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178,659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08576" y="4187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Products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775704" y="37490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775704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120,053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775704" y="4187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Products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00584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4904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457200" y="379476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</a:rPr>
              <a:t>Key Insight: </a:t>
            </a:r>
            <a:r>
              <a:rPr lang="en-US" sz="1200" dirty="0">
                <a:solidFill>
                  <a:srgbClr val="334155"/>
                </a:solidFill>
              </a:rPr>
              <a:t>The 55+ age group leads in ALL metrics — 26,587 transactions, 79,850 products sold &amp; 67.10M TL revenue. Revenue positively correlates with age. The 18–25 group is the lowest performer, suggesting an opportunity to engage younger shoppers.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Highlights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35040" y="1508760"/>
            <a:ext cx="28346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172200" y="1554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Clothing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72200" y="17922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across all segments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2130552"/>
            <a:ext cx="28346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172200" y="2176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💄 Cosmetics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72200" y="24140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#2 performer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2752344"/>
            <a:ext cx="28346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172200" y="27980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Food &amp; Bev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72200" y="30358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#3 pick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3374136"/>
            <a:ext cx="28346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172200" y="34198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Technology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172200" y="36576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demand — opportunity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3995928"/>
            <a:ext cx="28346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172200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Books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172200" y="42793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seasonal push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931920" y="1005840"/>
          <a:ext cx="4937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069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320" y="4114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44.69%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74320" y="4507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41448" y="4069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2441448" y="4114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35.12%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441448" y="4507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08576" y="4069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608576" y="4114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20.19%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08576" y="4507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775704" y="4069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775704" y="41148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55.31%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775704" y="4507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Total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93192" y="1188720"/>
            <a:ext cx="475488" cy="47548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93192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Female Customers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78408" y="148132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60% of revenue — tailor marketing, inventory &amp; loyalty programs to this segment.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73752" y="1188720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73752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58968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55+ Customers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58968" y="148132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 in all metrics. Invest in senior loyalty programs &amp; personalized offerings.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359152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93192" y="254203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3192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4963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Youth Engagement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8408" y="283464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 group underperforms. Use digital marketing, student discounts &amp; social campaigns.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359152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73752" y="254203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73752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58968" y="24963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Clothing &amp; Cosmetics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58968" y="283464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categories across all demographics. Avoid stock-outs at all times.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712464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93192" y="3895344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3192" y="38953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38496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Digital Payments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8408" y="418795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exceed 55%. Offer cashback &amp; rewards to shift balance further.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712464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73752" y="3895344"/>
            <a:ext cx="475488" cy="47548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73752" y="38953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58968" y="38496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Weak Categories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58968" y="418795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Books &amp; Souvenirs need seasonal campaigns and bundle offers to grow.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607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INSIGHTS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= 59.81% of transactions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86537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generated 150.21M TL revenue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purchased 178,659 products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dominance spans all categories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10607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INSIGHTS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536192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93208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group leads in ALL metrics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1865376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93208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generated 67.10M TL (highest)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194560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93208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 group is consistently lowest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523744"/>
            <a:ext cx="109728" cy="10972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93208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positively correlates with age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01752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28600" y="3017520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30723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INSIGHTS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547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2648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#1 across all demographics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38770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2648" y="3822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&amp; Food &amp; Bev = runners-up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420624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2648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Books &amp; Souvenirs lag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45354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12648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customers drive category demand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01752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09160" y="3017520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46320" y="30723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INSIGHTS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35478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93208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= 44.69% (most preferred)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92040" y="38770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093208" y="3822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combined = 55.31%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92040" y="42062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93208" y="4151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has lowest individual use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92040" y="45354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093208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 consistent by gender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E3A8A">
              <a:alpha val="60000"/>
            </a:srgbClr>
          </a:solidFill>
          <a:ln w="12700">
            <a:solidFill>
              <a:srgbClr val="1E3A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Analysis Report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C5FD"/>
                </a:solidFill>
              </a:rPr>
              <a:t>Prepared by:  </a:t>
            </a:r>
            <a:r>
              <a:rPr lang="en-US" sz="1400" b="1" dirty="0">
                <a:solidFill>
                  <a:srgbClr val="FFFFFF"/>
                </a:solidFill>
              </a:rPr>
              <a:t>Sanchit Sunil Koli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SQL  ·  Power BI  ·  Excel   |   Year: 2025–2026   |   Internship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540</Words>
  <Application>Microsoft Office PowerPoint</Application>
  <PresentationFormat>On-screen Show (16:9)</PresentationFormat>
  <Paragraphs>118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Analysis Report</dc:title>
  <dc:subject>PptxGenJS Presentation</dc:subject>
  <dc:creator>Sanchit Sunil Koli</dc:creator>
  <cp:lastModifiedBy>Sanchit Koli</cp:lastModifiedBy>
  <cp:revision>3</cp:revision>
  <dcterms:created xsi:type="dcterms:W3CDTF">2026-06-27T08:34:06Z</dcterms:created>
  <dcterms:modified xsi:type="dcterms:W3CDTF">2026-06-27T08:46:18Z</dcterms:modified>
</cp:coreProperties>
</file>